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FBE0C7-2D35-42D3-B9F2-0FE9BC5F6087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93490E0-EADF-4021-8711-62FD8CD4BD1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ru-RU"/>
            <a:t>Цель: Увеличить средний чек на </a:t>
          </a:r>
          <a:r>
            <a:rPr lang="ru-RU" b="1"/>
            <a:t>20%</a:t>
          </a:r>
          <a:r>
            <a:rPr lang="ru-RU"/>
            <a:t> через кросс-сейлз на главной странице</a:t>
          </a:r>
          <a:endParaRPr lang="en-US"/>
        </a:p>
      </dgm:t>
    </dgm:pt>
    <dgm:pt modelId="{5231C1E3-81B3-4EA6-9393-9834BCB218C4}" type="parTrans" cxnId="{D4DF4816-5BC7-423E-8D03-4B7C8FB134E4}">
      <dgm:prSet/>
      <dgm:spPr/>
      <dgm:t>
        <a:bodyPr/>
        <a:lstStyle/>
        <a:p>
          <a:endParaRPr lang="en-US"/>
        </a:p>
      </dgm:t>
    </dgm:pt>
    <dgm:pt modelId="{88C39295-778C-49AE-B6CD-86B6E3351071}" type="sibTrans" cxnId="{D4DF4816-5BC7-423E-8D03-4B7C8FB134E4}">
      <dgm:prSet/>
      <dgm:spPr/>
      <dgm:t>
        <a:bodyPr/>
        <a:lstStyle/>
        <a:p>
          <a:endParaRPr lang="en-US"/>
        </a:p>
      </dgm:t>
    </dgm:pt>
    <dgm:pt modelId="{A289D78B-6EC8-4DA9-92BE-703FA4ACF44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ru-RU"/>
            <a:t>Ключевой вопрос: Какие 3 товара показать пользователю?</a:t>
          </a:r>
          <a:endParaRPr lang="en-US"/>
        </a:p>
      </dgm:t>
    </dgm:pt>
    <dgm:pt modelId="{47D077A9-FDE7-4B58-BA2F-31D42B2AEA20}" type="parTrans" cxnId="{5DE834D7-A639-4CAB-8C77-E63EEC369427}">
      <dgm:prSet/>
      <dgm:spPr/>
      <dgm:t>
        <a:bodyPr/>
        <a:lstStyle/>
        <a:p>
          <a:endParaRPr lang="en-US"/>
        </a:p>
      </dgm:t>
    </dgm:pt>
    <dgm:pt modelId="{3FB9C4A9-FA3C-471C-8619-57648D4B671A}" type="sibTrans" cxnId="{5DE834D7-A639-4CAB-8C77-E63EEC369427}">
      <dgm:prSet/>
      <dgm:spPr/>
      <dgm:t>
        <a:bodyPr/>
        <a:lstStyle/>
        <a:p>
          <a:endParaRPr lang="en-US"/>
        </a:p>
      </dgm:t>
    </dgm:pt>
    <dgm:pt modelId="{47FE686F-F75C-47EC-9DD1-8A271A9518E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ru-RU" b="1" dirty="0"/>
            <a:t>Метрика успеха:</a:t>
          </a:r>
          <a:r>
            <a:rPr lang="ru-RU" dirty="0"/>
            <a:t> </a:t>
          </a:r>
        </a:p>
        <a:p>
          <a:pPr>
            <a:lnSpc>
              <a:spcPct val="100000"/>
            </a:lnSpc>
            <a:defRPr b="1"/>
          </a:pPr>
          <a:r>
            <a:rPr lang="ru-RU" b="1" dirty="0"/>
            <a:t>Precision@3</a:t>
          </a:r>
          <a:endParaRPr lang="en-US" dirty="0"/>
        </a:p>
      </dgm:t>
    </dgm:pt>
    <dgm:pt modelId="{D9F2EEB0-4DC4-4CD1-8E6F-57FF2771F914}" type="parTrans" cxnId="{461BBBFE-168E-4E2A-BE12-6AF3866BE344}">
      <dgm:prSet/>
      <dgm:spPr/>
      <dgm:t>
        <a:bodyPr/>
        <a:lstStyle/>
        <a:p>
          <a:endParaRPr lang="en-US"/>
        </a:p>
      </dgm:t>
    </dgm:pt>
    <dgm:pt modelId="{1E0AF789-0518-4D0A-A062-18F44797C4CD}" type="sibTrans" cxnId="{461BBBFE-168E-4E2A-BE12-6AF3866BE344}">
      <dgm:prSet/>
      <dgm:spPr/>
      <dgm:t>
        <a:bodyPr/>
        <a:lstStyle/>
        <a:p>
          <a:endParaRPr lang="en-US"/>
        </a:p>
      </dgm:t>
    </dgm:pt>
    <dgm:pt modelId="{A26A242E-E4E4-430C-8C9B-6D4075DA743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ru-RU" b="1"/>
            <a:t>Почему именно эта метрика?</a:t>
          </a:r>
          <a:endParaRPr lang="en-US"/>
        </a:p>
      </dgm:t>
    </dgm:pt>
    <dgm:pt modelId="{62B04DCF-60E0-4B81-8232-C68673BF563E}" type="parTrans" cxnId="{B5A0E669-866D-412C-8B10-18F1554611E6}">
      <dgm:prSet/>
      <dgm:spPr/>
      <dgm:t>
        <a:bodyPr/>
        <a:lstStyle/>
        <a:p>
          <a:endParaRPr lang="en-US"/>
        </a:p>
      </dgm:t>
    </dgm:pt>
    <dgm:pt modelId="{1A6084D7-4A64-4EA8-A1AF-0C0EA31DE349}" type="sibTrans" cxnId="{B5A0E669-866D-412C-8B10-18F1554611E6}">
      <dgm:prSet/>
      <dgm:spPr/>
      <dgm:t>
        <a:bodyPr/>
        <a:lstStyle/>
        <a:p>
          <a:endParaRPr lang="en-US"/>
        </a:p>
      </dgm:t>
    </dgm:pt>
    <dgm:pt modelId="{926EA095-1F64-46AB-A4D2-28CD9BC1EAC1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Соответствует 3 слотам на главной</a:t>
          </a:r>
          <a:endParaRPr lang="en-US" dirty="0"/>
        </a:p>
      </dgm:t>
    </dgm:pt>
    <dgm:pt modelId="{72E82A9F-8DFD-44EB-AA97-C56480575A7F}" type="parTrans" cxnId="{4324F73C-CB5F-4567-AE36-50E425AB362D}">
      <dgm:prSet/>
      <dgm:spPr/>
      <dgm:t>
        <a:bodyPr/>
        <a:lstStyle/>
        <a:p>
          <a:endParaRPr lang="en-US"/>
        </a:p>
      </dgm:t>
    </dgm:pt>
    <dgm:pt modelId="{3F4A8D5F-262A-4CFA-A33D-CD25408D713F}" type="sibTrans" cxnId="{4324F73C-CB5F-4567-AE36-50E425AB362D}">
      <dgm:prSet/>
      <dgm:spPr/>
      <dgm:t>
        <a:bodyPr/>
        <a:lstStyle/>
        <a:p>
          <a:endParaRPr lang="en-US"/>
        </a:p>
      </dgm:t>
    </dgm:pt>
    <dgm:pt modelId="{FF2272D6-C1BC-4454-9096-F7B4469393DC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Прямо измеряет продажи</a:t>
          </a:r>
        </a:p>
        <a:p>
          <a:pPr>
            <a:lnSpc>
              <a:spcPct val="100000"/>
            </a:lnSpc>
          </a:pPr>
          <a:r>
            <a:rPr lang="ru-RU" dirty="0"/>
            <a:t>Легко объясняется бизнесу</a:t>
          </a:r>
          <a:endParaRPr lang="en-US" dirty="0"/>
        </a:p>
      </dgm:t>
    </dgm:pt>
    <dgm:pt modelId="{1FEDFC6B-939A-443C-961D-0BA6DAF708BC}" type="parTrans" cxnId="{F9C91A8A-9A33-4179-AF39-0E4AAABA03A4}">
      <dgm:prSet/>
      <dgm:spPr/>
      <dgm:t>
        <a:bodyPr/>
        <a:lstStyle/>
        <a:p>
          <a:endParaRPr lang="en-US"/>
        </a:p>
      </dgm:t>
    </dgm:pt>
    <dgm:pt modelId="{72D8BCED-91B0-471E-8EC5-33F72BEE7D82}" type="sibTrans" cxnId="{F9C91A8A-9A33-4179-AF39-0E4AAABA03A4}">
      <dgm:prSet/>
      <dgm:spPr/>
      <dgm:t>
        <a:bodyPr/>
        <a:lstStyle/>
        <a:p>
          <a:endParaRPr lang="en-US"/>
        </a:p>
      </dgm:t>
    </dgm:pt>
    <dgm:pt modelId="{263A6E4D-B9F8-4CC6-9382-040F954C2604}" type="pres">
      <dgm:prSet presAssocID="{09FBE0C7-2D35-42D3-B9F2-0FE9BC5F6087}" presName="root" presStyleCnt="0">
        <dgm:presLayoutVars>
          <dgm:dir/>
          <dgm:resizeHandles val="exact"/>
        </dgm:presLayoutVars>
      </dgm:prSet>
      <dgm:spPr/>
    </dgm:pt>
    <dgm:pt modelId="{D5176948-5171-4F80-A326-623E667064F4}" type="pres">
      <dgm:prSet presAssocID="{193490E0-EADF-4021-8711-62FD8CD4BD1A}" presName="compNode" presStyleCnt="0"/>
      <dgm:spPr/>
    </dgm:pt>
    <dgm:pt modelId="{29C01383-DDF2-4D20-8413-0FBB06066CD2}" type="pres">
      <dgm:prSet presAssocID="{193490E0-EADF-4021-8711-62FD8CD4BD1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Цель"/>
        </a:ext>
      </dgm:extLst>
    </dgm:pt>
    <dgm:pt modelId="{0A6B17E3-CBC0-48A0-A95A-5B2433265A24}" type="pres">
      <dgm:prSet presAssocID="{193490E0-EADF-4021-8711-62FD8CD4BD1A}" presName="iconSpace" presStyleCnt="0"/>
      <dgm:spPr/>
    </dgm:pt>
    <dgm:pt modelId="{794C2F55-AE2E-4E1C-B945-9849230186CB}" type="pres">
      <dgm:prSet presAssocID="{193490E0-EADF-4021-8711-62FD8CD4BD1A}" presName="parTx" presStyleLbl="revTx" presStyleIdx="0" presStyleCnt="8">
        <dgm:presLayoutVars>
          <dgm:chMax val="0"/>
          <dgm:chPref val="0"/>
        </dgm:presLayoutVars>
      </dgm:prSet>
      <dgm:spPr/>
    </dgm:pt>
    <dgm:pt modelId="{C1AA21C7-A04C-4100-A9C1-5739C5A7BAB0}" type="pres">
      <dgm:prSet presAssocID="{193490E0-EADF-4021-8711-62FD8CD4BD1A}" presName="txSpace" presStyleCnt="0"/>
      <dgm:spPr/>
    </dgm:pt>
    <dgm:pt modelId="{D84CD583-71A3-4836-88DF-BECDB86B962F}" type="pres">
      <dgm:prSet presAssocID="{193490E0-EADF-4021-8711-62FD8CD4BD1A}" presName="desTx" presStyleLbl="revTx" presStyleIdx="1" presStyleCnt="8">
        <dgm:presLayoutVars/>
      </dgm:prSet>
      <dgm:spPr/>
    </dgm:pt>
    <dgm:pt modelId="{751A66E7-B8EB-453A-A63D-515A07F2C9A0}" type="pres">
      <dgm:prSet presAssocID="{88C39295-778C-49AE-B6CD-86B6E3351071}" presName="sibTrans" presStyleCnt="0"/>
      <dgm:spPr/>
    </dgm:pt>
    <dgm:pt modelId="{44DA9973-6426-4D6D-B120-B3FDD34800AA}" type="pres">
      <dgm:prSet presAssocID="{A289D78B-6EC8-4DA9-92BE-703FA4ACF440}" presName="compNode" presStyleCnt="0"/>
      <dgm:spPr/>
    </dgm:pt>
    <dgm:pt modelId="{0E1E2B52-35A3-4FE6-8A1C-84F448290C18}" type="pres">
      <dgm:prSet presAssocID="{A289D78B-6EC8-4DA9-92BE-703FA4ACF44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A60157DF-B954-44D5-85E9-1649348FC91D}" type="pres">
      <dgm:prSet presAssocID="{A289D78B-6EC8-4DA9-92BE-703FA4ACF440}" presName="iconSpace" presStyleCnt="0"/>
      <dgm:spPr/>
    </dgm:pt>
    <dgm:pt modelId="{BCC24FA8-9CCE-47BE-AB68-36C0BF11C1A6}" type="pres">
      <dgm:prSet presAssocID="{A289D78B-6EC8-4DA9-92BE-703FA4ACF440}" presName="parTx" presStyleLbl="revTx" presStyleIdx="2" presStyleCnt="8">
        <dgm:presLayoutVars>
          <dgm:chMax val="0"/>
          <dgm:chPref val="0"/>
        </dgm:presLayoutVars>
      </dgm:prSet>
      <dgm:spPr/>
    </dgm:pt>
    <dgm:pt modelId="{0E95859C-3B48-4A4B-BCCD-89153F1F7D2B}" type="pres">
      <dgm:prSet presAssocID="{A289D78B-6EC8-4DA9-92BE-703FA4ACF440}" presName="txSpace" presStyleCnt="0"/>
      <dgm:spPr/>
    </dgm:pt>
    <dgm:pt modelId="{3A745D18-CB8F-46AF-BFD6-7D522149CCFE}" type="pres">
      <dgm:prSet presAssocID="{A289D78B-6EC8-4DA9-92BE-703FA4ACF440}" presName="desTx" presStyleLbl="revTx" presStyleIdx="3" presStyleCnt="8">
        <dgm:presLayoutVars/>
      </dgm:prSet>
      <dgm:spPr/>
    </dgm:pt>
    <dgm:pt modelId="{6A415C51-DA2A-4C9E-A1EB-4AD54236A6A1}" type="pres">
      <dgm:prSet presAssocID="{3FB9C4A9-FA3C-471C-8619-57648D4B671A}" presName="sibTrans" presStyleCnt="0"/>
      <dgm:spPr/>
    </dgm:pt>
    <dgm:pt modelId="{E9D6FDCD-B2A1-459C-A8ED-B95AA574E804}" type="pres">
      <dgm:prSet presAssocID="{47FE686F-F75C-47EC-9DD1-8A271A9518EF}" presName="compNode" presStyleCnt="0"/>
      <dgm:spPr/>
    </dgm:pt>
    <dgm:pt modelId="{9A743F8B-D22F-4765-B146-3CA241C04871}" type="pres">
      <dgm:prSet presAssocID="{47FE686F-F75C-47EC-9DD1-8A271A9518EF}" presName="iconRect" presStyleLbl="node1" presStyleIdx="2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Буфер обмена контур"/>
        </a:ext>
      </dgm:extLst>
    </dgm:pt>
    <dgm:pt modelId="{F05516C7-AFEF-4FA0-8644-EED8960C3326}" type="pres">
      <dgm:prSet presAssocID="{47FE686F-F75C-47EC-9DD1-8A271A9518EF}" presName="iconSpace" presStyleCnt="0"/>
      <dgm:spPr/>
    </dgm:pt>
    <dgm:pt modelId="{D34B9DC2-7FE2-4E0E-93D7-7356F542D065}" type="pres">
      <dgm:prSet presAssocID="{47FE686F-F75C-47EC-9DD1-8A271A9518EF}" presName="parTx" presStyleLbl="revTx" presStyleIdx="4" presStyleCnt="8">
        <dgm:presLayoutVars>
          <dgm:chMax val="0"/>
          <dgm:chPref val="0"/>
        </dgm:presLayoutVars>
      </dgm:prSet>
      <dgm:spPr/>
    </dgm:pt>
    <dgm:pt modelId="{A8F6774D-6003-46B1-8D39-0C9A75B691D8}" type="pres">
      <dgm:prSet presAssocID="{47FE686F-F75C-47EC-9DD1-8A271A9518EF}" presName="txSpace" presStyleCnt="0"/>
      <dgm:spPr/>
    </dgm:pt>
    <dgm:pt modelId="{CE8B0519-4AC6-4023-8A89-39A3654B047B}" type="pres">
      <dgm:prSet presAssocID="{47FE686F-F75C-47EC-9DD1-8A271A9518EF}" presName="desTx" presStyleLbl="revTx" presStyleIdx="5" presStyleCnt="8">
        <dgm:presLayoutVars/>
      </dgm:prSet>
      <dgm:spPr/>
    </dgm:pt>
    <dgm:pt modelId="{13E8AD9D-6D36-408A-88F0-EB782E805037}" type="pres">
      <dgm:prSet presAssocID="{1E0AF789-0518-4D0A-A062-18F44797C4CD}" presName="sibTrans" presStyleCnt="0"/>
      <dgm:spPr/>
    </dgm:pt>
    <dgm:pt modelId="{E651ADAA-CEA8-485E-99AD-9552F6FD4106}" type="pres">
      <dgm:prSet presAssocID="{A26A242E-E4E4-430C-8C9B-6D4075DA743E}" presName="compNode" presStyleCnt="0"/>
      <dgm:spPr/>
    </dgm:pt>
    <dgm:pt modelId="{24A4C167-135D-4FBF-BE79-7509B57ED3DE}" type="pres">
      <dgm:prSet presAssocID="{A26A242E-E4E4-430C-8C9B-6D4075DA743E}" presName="iconRect" presStyleLbl="node1" presStyleIdx="3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Вопросы контур"/>
        </a:ext>
      </dgm:extLst>
    </dgm:pt>
    <dgm:pt modelId="{47129FF3-1523-41F0-995D-D246EAA35274}" type="pres">
      <dgm:prSet presAssocID="{A26A242E-E4E4-430C-8C9B-6D4075DA743E}" presName="iconSpace" presStyleCnt="0"/>
      <dgm:spPr/>
    </dgm:pt>
    <dgm:pt modelId="{2152EFED-3773-4347-805F-D981D3395921}" type="pres">
      <dgm:prSet presAssocID="{A26A242E-E4E4-430C-8C9B-6D4075DA743E}" presName="parTx" presStyleLbl="revTx" presStyleIdx="6" presStyleCnt="8">
        <dgm:presLayoutVars>
          <dgm:chMax val="0"/>
          <dgm:chPref val="0"/>
        </dgm:presLayoutVars>
      </dgm:prSet>
      <dgm:spPr/>
    </dgm:pt>
    <dgm:pt modelId="{C9DF0ED7-E33C-410E-BDCB-AC13E35C5E9D}" type="pres">
      <dgm:prSet presAssocID="{A26A242E-E4E4-430C-8C9B-6D4075DA743E}" presName="txSpace" presStyleCnt="0"/>
      <dgm:spPr/>
    </dgm:pt>
    <dgm:pt modelId="{D47DA809-97DD-4233-8155-7CEBE1586E98}" type="pres">
      <dgm:prSet presAssocID="{A26A242E-E4E4-430C-8C9B-6D4075DA743E}" presName="desTx" presStyleLbl="revTx" presStyleIdx="7" presStyleCnt="8">
        <dgm:presLayoutVars/>
      </dgm:prSet>
      <dgm:spPr/>
    </dgm:pt>
  </dgm:ptLst>
  <dgm:cxnLst>
    <dgm:cxn modelId="{D4DF4816-5BC7-423E-8D03-4B7C8FB134E4}" srcId="{09FBE0C7-2D35-42D3-B9F2-0FE9BC5F6087}" destId="{193490E0-EADF-4021-8711-62FD8CD4BD1A}" srcOrd="0" destOrd="0" parTransId="{5231C1E3-81B3-4EA6-9393-9834BCB218C4}" sibTransId="{88C39295-778C-49AE-B6CD-86B6E3351071}"/>
    <dgm:cxn modelId="{74114D28-B3E5-4EF3-856C-4F95DDD0FB7C}" type="presOf" srcId="{A26A242E-E4E4-430C-8C9B-6D4075DA743E}" destId="{2152EFED-3773-4347-805F-D981D3395921}" srcOrd="0" destOrd="0" presId="urn:microsoft.com/office/officeart/2018/2/layout/IconLabelDescriptionList"/>
    <dgm:cxn modelId="{4324F73C-CB5F-4567-AE36-50E425AB362D}" srcId="{A26A242E-E4E4-430C-8C9B-6D4075DA743E}" destId="{926EA095-1F64-46AB-A4D2-28CD9BC1EAC1}" srcOrd="0" destOrd="0" parTransId="{72E82A9F-8DFD-44EB-AA97-C56480575A7F}" sibTransId="{3F4A8D5F-262A-4CFA-A33D-CD25408D713F}"/>
    <dgm:cxn modelId="{6436D646-BFE1-4D39-B3FD-8CADB5674FA8}" type="presOf" srcId="{FF2272D6-C1BC-4454-9096-F7B4469393DC}" destId="{D47DA809-97DD-4233-8155-7CEBE1586E98}" srcOrd="0" destOrd="1" presId="urn:microsoft.com/office/officeart/2018/2/layout/IconLabelDescriptionList"/>
    <dgm:cxn modelId="{B5A0E669-866D-412C-8B10-18F1554611E6}" srcId="{09FBE0C7-2D35-42D3-B9F2-0FE9BC5F6087}" destId="{A26A242E-E4E4-430C-8C9B-6D4075DA743E}" srcOrd="3" destOrd="0" parTransId="{62B04DCF-60E0-4B81-8232-C68673BF563E}" sibTransId="{1A6084D7-4A64-4EA8-A1AF-0C0EA31DE349}"/>
    <dgm:cxn modelId="{83067C4E-40E3-48E8-AB96-6E3610CA01CA}" type="presOf" srcId="{A289D78B-6EC8-4DA9-92BE-703FA4ACF440}" destId="{BCC24FA8-9CCE-47BE-AB68-36C0BF11C1A6}" srcOrd="0" destOrd="0" presId="urn:microsoft.com/office/officeart/2018/2/layout/IconLabelDescriptionList"/>
    <dgm:cxn modelId="{1B8DE56E-2FAB-4345-9B99-07F75CD9E36C}" type="presOf" srcId="{926EA095-1F64-46AB-A4D2-28CD9BC1EAC1}" destId="{D47DA809-97DD-4233-8155-7CEBE1586E98}" srcOrd="0" destOrd="0" presId="urn:microsoft.com/office/officeart/2018/2/layout/IconLabelDescriptionList"/>
    <dgm:cxn modelId="{E54BB756-7023-4489-A4EF-8E78E8423E71}" type="presOf" srcId="{193490E0-EADF-4021-8711-62FD8CD4BD1A}" destId="{794C2F55-AE2E-4E1C-B945-9849230186CB}" srcOrd="0" destOrd="0" presId="urn:microsoft.com/office/officeart/2018/2/layout/IconLabelDescriptionList"/>
    <dgm:cxn modelId="{F9C91A8A-9A33-4179-AF39-0E4AAABA03A4}" srcId="{A26A242E-E4E4-430C-8C9B-6D4075DA743E}" destId="{FF2272D6-C1BC-4454-9096-F7B4469393DC}" srcOrd="1" destOrd="0" parTransId="{1FEDFC6B-939A-443C-961D-0BA6DAF708BC}" sibTransId="{72D8BCED-91B0-471E-8EC5-33F72BEE7D82}"/>
    <dgm:cxn modelId="{51BB48C0-DA41-4834-BF74-B532B216AA07}" type="presOf" srcId="{47FE686F-F75C-47EC-9DD1-8A271A9518EF}" destId="{D34B9DC2-7FE2-4E0E-93D7-7356F542D065}" srcOrd="0" destOrd="0" presId="urn:microsoft.com/office/officeart/2018/2/layout/IconLabelDescriptionList"/>
    <dgm:cxn modelId="{5DE834D7-A639-4CAB-8C77-E63EEC369427}" srcId="{09FBE0C7-2D35-42D3-B9F2-0FE9BC5F6087}" destId="{A289D78B-6EC8-4DA9-92BE-703FA4ACF440}" srcOrd="1" destOrd="0" parTransId="{47D077A9-FDE7-4B58-BA2F-31D42B2AEA20}" sibTransId="{3FB9C4A9-FA3C-471C-8619-57648D4B671A}"/>
    <dgm:cxn modelId="{2009C4FB-BB8C-4B07-A766-A1E8521590E6}" type="presOf" srcId="{09FBE0C7-2D35-42D3-B9F2-0FE9BC5F6087}" destId="{263A6E4D-B9F8-4CC6-9382-040F954C2604}" srcOrd="0" destOrd="0" presId="urn:microsoft.com/office/officeart/2018/2/layout/IconLabelDescriptionList"/>
    <dgm:cxn modelId="{461BBBFE-168E-4E2A-BE12-6AF3866BE344}" srcId="{09FBE0C7-2D35-42D3-B9F2-0FE9BC5F6087}" destId="{47FE686F-F75C-47EC-9DD1-8A271A9518EF}" srcOrd="2" destOrd="0" parTransId="{D9F2EEB0-4DC4-4CD1-8E6F-57FF2771F914}" sibTransId="{1E0AF789-0518-4D0A-A062-18F44797C4CD}"/>
    <dgm:cxn modelId="{DF58DA1E-E1CA-4096-B3F0-8ADAE4030373}" type="presParOf" srcId="{263A6E4D-B9F8-4CC6-9382-040F954C2604}" destId="{D5176948-5171-4F80-A326-623E667064F4}" srcOrd="0" destOrd="0" presId="urn:microsoft.com/office/officeart/2018/2/layout/IconLabelDescriptionList"/>
    <dgm:cxn modelId="{8C283182-41CC-4364-BA80-C41E98974A27}" type="presParOf" srcId="{D5176948-5171-4F80-A326-623E667064F4}" destId="{29C01383-DDF2-4D20-8413-0FBB06066CD2}" srcOrd="0" destOrd="0" presId="urn:microsoft.com/office/officeart/2018/2/layout/IconLabelDescriptionList"/>
    <dgm:cxn modelId="{6CDEE08D-5337-4403-81C1-57725E332A43}" type="presParOf" srcId="{D5176948-5171-4F80-A326-623E667064F4}" destId="{0A6B17E3-CBC0-48A0-A95A-5B2433265A24}" srcOrd="1" destOrd="0" presId="urn:microsoft.com/office/officeart/2018/2/layout/IconLabelDescriptionList"/>
    <dgm:cxn modelId="{035FB63C-D308-4945-BC48-0D1B46738A81}" type="presParOf" srcId="{D5176948-5171-4F80-A326-623E667064F4}" destId="{794C2F55-AE2E-4E1C-B945-9849230186CB}" srcOrd="2" destOrd="0" presId="urn:microsoft.com/office/officeart/2018/2/layout/IconLabelDescriptionList"/>
    <dgm:cxn modelId="{F2E29E00-37B3-47FC-8C75-76B5C58155AE}" type="presParOf" srcId="{D5176948-5171-4F80-A326-623E667064F4}" destId="{C1AA21C7-A04C-4100-A9C1-5739C5A7BAB0}" srcOrd="3" destOrd="0" presId="urn:microsoft.com/office/officeart/2018/2/layout/IconLabelDescriptionList"/>
    <dgm:cxn modelId="{65D8226C-2ED4-4256-8327-0122E989DBE2}" type="presParOf" srcId="{D5176948-5171-4F80-A326-623E667064F4}" destId="{D84CD583-71A3-4836-88DF-BECDB86B962F}" srcOrd="4" destOrd="0" presId="urn:microsoft.com/office/officeart/2018/2/layout/IconLabelDescriptionList"/>
    <dgm:cxn modelId="{908EBF6E-310C-4FA5-B3B7-FEAFF568FB71}" type="presParOf" srcId="{263A6E4D-B9F8-4CC6-9382-040F954C2604}" destId="{751A66E7-B8EB-453A-A63D-515A07F2C9A0}" srcOrd="1" destOrd="0" presId="urn:microsoft.com/office/officeart/2018/2/layout/IconLabelDescriptionList"/>
    <dgm:cxn modelId="{7EA17A18-FC3C-4802-8AC5-0D5E87D58068}" type="presParOf" srcId="{263A6E4D-B9F8-4CC6-9382-040F954C2604}" destId="{44DA9973-6426-4D6D-B120-B3FDD34800AA}" srcOrd="2" destOrd="0" presId="urn:microsoft.com/office/officeart/2018/2/layout/IconLabelDescriptionList"/>
    <dgm:cxn modelId="{4F2BD51C-3C39-4678-AB8A-C44E8B6D0743}" type="presParOf" srcId="{44DA9973-6426-4D6D-B120-B3FDD34800AA}" destId="{0E1E2B52-35A3-4FE6-8A1C-84F448290C18}" srcOrd="0" destOrd="0" presId="urn:microsoft.com/office/officeart/2018/2/layout/IconLabelDescriptionList"/>
    <dgm:cxn modelId="{866F3572-ECD3-42AD-9A38-9788EA807EAC}" type="presParOf" srcId="{44DA9973-6426-4D6D-B120-B3FDD34800AA}" destId="{A60157DF-B954-44D5-85E9-1649348FC91D}" srcOrd="1" destOrd="0" presId="urn:microsoft.com/office/officeart/2018/2/layout/IconLabelDescriptionList"/>
    <dgm:cxn modelId="{9D313109-D54A-42F2-82C1-AB941AC98B59}" type="presParOf" srcId="{44DA9973-6426-4D6D-B120-B3FDD34800AA}" destId="{BCC24FA8-9CCE-47BE-AB68-36C0BF11C1A6}" srcOrd="2" destOrd="0" presId="urn:microsoft.com/office/officeart/2018/2/layout/IconLabelDescriptionList"/>
    <dgm:cxn modelId="{373BC0F0-43E4-4B19-9FF9-60D53E7A3F5D}" type="presParOf" srcId="{44DA9973-6426-4D6D-B120-B3FDD34800AA}" destId="{0E95859C-3B48-4A4B-BCCD-89153F1F7D2B}" srcOrd="3" destOrd="0" presId="urn:microsoft.com/office/officeart/2018/2/layout/IconLabelDescriptionList"/>
    <dgm:cxn modelId="{1B83C9BC-8061-4914-A6E4-C71606032C89}" type="presParOf" srcId="{44DA9973-6426-4D6D-B120-B3FDD34800AA}" destId="{3A745D18-CB8F-46AF-BFD6-7D522149CCFE}" srcOrd="4" destOrd="0" presId="urn:microsoft.com/office/officeart/2018/2/layout/IconLabelDescriptionList"/>
    <dgm:cxn modelId="{C0926655-8012-47D7-9476-F866B09F5082}" type="presParOf" srcId="{263A6E4D-B9F8-4CC6-9382-040F954C2604}" destId="{6A415C51-DA2A-4C9E-A1EB-4AD54236A6A1}" srcOrd="3" destOrd="0" presId="urn:microsoft.com/office/officeart/2018/2/layout/IconLabelDescriptionList"/>
    <dgm:cxn modelId="{8BE274CB-9547-475E-BC58-AE9AB4293386}" type="presParOf" srcId="{263A6E4D-B9F8-4CC6-9382-040F954C2604}" destId="{E9D6FDCD-B2A1-459C-A8ED-B95AA574E804}" srcOrd="4" destOrd="0" presId="urn:microsoft.com/office/officeart/2018/2/layout/IconLabelDescriptionList"/>
    <dgm:cxn modelId="{8C20164C-174F-4BCD-8914-B605A7CBAF3F}" type="presParOf" srcId="{E9D6FDCD-B2A1-459C-A8ED-B95AA574E804}" destId="{9A743F8B-D22F-4765-B146-3CA241C04871}" srcOrd="0" destOrd="0" presId="urn:microsoft.com/office/officeart/2018/2/layout/IconLabelDescriptionList"/>
    <dgm:cxn modelId="{85AC8CC1-6047-4418-9257-BB675AC7E086}" type="presParOf" srcId="{E9D6FDCD-B2A1-459C-A8ED-B95AA574E804}" destId="{F05516C7-AFEF-4FA0-8644-EED8960C3326}" srcOrd="1" destOrd="0" presId="urn:microsoft.com/office/officeart/2018/2/layout/IconLabelDescriptionList"/>
    <dgm:cxn modelId="{62BB393C-B566-48BA-B0A9-059EC3C4087E}" type="presParOf" srcId="{E9D6FDCD-B2A1-459C-A8ED-B95AA574E804}" destId="{D34B9DC2-7FE2-4E0E-93D7-7356F542D065}" srcOrd="2" destOrd="0" presId="urn:microsoft.com/office/officeart/2018/2/layout/IconLabelDescriptionList"/>
    <dgm:cxn modelId="{024EEB64-4FA0-4C78-B026-EA119D331080}" type="presParOf" srcId="{E9D6FDCD-B2A1-459C-A8ED-B95AA574E804}" destId="{A8F6774D-6003-46B1-8D39-0C9A75B691D8}" srcOrd="3" destOrd="0" presId="urn:microsoft.com/office/officeart/2018/2/layout/IconLabelDescriptionList"/>
    <dgm:cxn modelId="{655C7CFF-8021-450A-852A-263A592C5BBC}" type="presParOf" srcId="{E9D6FDCD-B2A1-459C-A8ED-B95AA574E804}" destId="{CE8B0519-4AC6-4023-8A89-39A3654B047B}" srcOrd="4" destOrd="0" presId="urn:microsoft.com/office/officeart/2018/2/layout/IconLabelDescriptionList"/>
    <dgm:cxn modelId="{8CC16971-ED62-4F0E-94A2-6F617E3A3DEA}" type="presParOf" srcId="{263A6E4D-B9F8-4CC6-9382-040F954C2604}" destId="{13E8AD9D-6D36-408A-88F0-EB782E805037}" srcOrd="5" destOrd="0" presId="urn:microsoft.com/office/officeart/2018/2/layout/IconLabelDescriptionList"/>
    <dgm:cxn modelId="{9A8E75E0-FB6E-4671-AFE9-396021D42A1E}" type="presParOf" srcId="{263A6E4D-B9F8-4CC6-9382-040F954C2604}" destId="{E651ADAA-CEA8-485E-99AD-9552F6FD4106}" srcOrd="6" destOrd="0" presId="urn:microsoft.com/office/officeart/2018/2/layout/IconLabelDescriptionList"/>
    <dgm:cxn modelId="{E74C96C4-1265-421A-86A6-1FF3FFBDFB86}" type="presParOf" srcId="{E651ADAA-CEA8-485E-99AD-9552F6FD4106}" destId="{24A4C167-135D-4FBF-BE79-7509B57ED3DE}" srcOrd="0" destOrd="0" presId="urn:microsoft.com/office/officeart/2018/2/layout/IconLabelDescriptionList"/>
    <dgm:cxn modelId="{E13ABE8F-2649-4C05-A35E-0AC34DDCA9AE}" type="presParOf" srcId="{E651ADAA-CEA8-485E-99AD-9552F6FD4106}" destId="{47129FF3-1523-41F0-995D-D246EAA35274}" srcOrd="1" destOrd="0" presId="urn:microsoft.com/office/officeart/2018/2/layout/IconLabelDescriptionList"/>
    <dgm:cxn modelId="{E11B162B-D7B7-48B0-BC10-0B060AC9DE0D}" type="presParOf" srcId="{E651ADAA-CEA8-485E-99AD-9552F6FD4106}" destId="{2152EFED-3773-4347-805F-D981D3395921}" srcOrd="2" destOrd="0" presId="urn:microsoft.com/office/officeart/2018/2/layout/IconLabelDescriptionList"/>
    <dgm:cxn modelId="{0D4C6280-3699-4B02-9150-99B988D834FB}" type="presParOf" srcId="{E651ADAA-CEA8-485E-99AD-9552F6FD4106}" destId="{C9DF0ED7-E33C-410E-BDCB-AC13E35C5E9D}" srcOrd="3" destOrd="0" presId="urn:microsoft.com/office/officeart/2018/2/layout/IconLabelDescriptionList"/>
    <dgm:cxn modelId="{56C62FAC-FC47-4BBB-8AD0-B74B6A22E44A}" type="presParOf" srcId="{E651ADAA-CEA8-485E-99AD-9552F6FD4106}" destId="{D47DA809-97DD-4233-8155-7CEBE1586E9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C01383-DDF2-4D20-8413-0FBB06066CD2}">
      <dsp:nvSpPr>
        <dsp:cNvPr id="0" name=""/>
        <dsp:cNvSpPr/>
      </dsp:nvSpPr>
      <dsp:spPr>
        <a:xfrm>
          <a:off x="4240" y="727215"/>
          <a:ext cx="862312" cy="8623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4C2F55-AE2E-4E1C-B945-9849230186CB}">
      <dsp:nvSpPr>
        <dsp:cNvPr id="0" name=""/>
        <dsp:cNvSpPr/>
      </dsp:nvSpPr>
      <dsp:spPr>
        <a:xfrm>
          <a:off x="4240" y="1688974"/>
          <a:ext cx="2463750" cy="658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ru-RU" sz="1400" kern="1200"/>
            <a:t>Цель: Увеличить средний чек на </a:t>
          </a:r>
          <a:r>
            <a:rPr lang="ru-RU" sz="1400" b="1" kern="1200"/>
            <a:t>20%</a:t>
          </a:r>
          <a:r>
            <a:rPr lang="ru-RU" sz="1400" kern="1200"/>
            <a:t> через кросс-сейлз на главной странице</a:t>
          </a:r>
          <a:endParaRPr lang="en-US" sz="1400" kern="1200"/>
        </a:p>
      </dsp:txBody>
      <dsp:txXfrm>
        <a:off x="4240" y="1688974"/>
        <a:ext cx="2463750" cy="658283"/>
      </dsp:txXfrm>
    </dsp:sp>
    <dsp:sp modelId="{D84CD583-71A3-4836-88DF-BECDB86B962F}">
      <dsp:nvSpPr>
        <dsp:cNvPr id="0" name=""/>
        <dsp:cNvSpPr/>
      </dsp:nvSpPr>
      <dsp:spPr>
        <a:xfrm>
          <a:off x="4240" y="2393512"/>
          <a:ext cx="2463750" cy="646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1E2B52-35A3-4FE6-8A1C-84F448290C18}">
      <dsp:nvSpPr>
        <dsp:cNvPr id="0" name=""/>
        <dsp:cNvSpPr/>
      </dsp:nvSpPr>
      <dsp:spPr>
        <a:xfrm>
          <a:off x="2899146" y="727215"/>
          <a:ext cx="862312" cy="8623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C24FA8-9CCE-47BE-AB68-36C0BF11C1A6}">
      <dsp:nvSpPr>
        <dsp:cNvPr id="0" name=""/>
        <dsp:cNvSpPr/>
      </dsp:nvSpPr>
      <dsp:spPr>
        <a:xfrm>
          <a:off x="2899146" y="1688974"/>
          <a:ext cx="2463750" cy="658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ru-RU" sz="1400" kern="1200"/>
            <a:t>Ключевой вопрос: Какие 3 товара показать пользователю?</a:t>
          </a:r>
          <a:endParaRPr lang="en-US" sz="1400" kern="1200"/>
        </a:p>
      </dsp:txBody>
      <dsp:txXfrm>
        <a:off x="2899146" y="1688974"/>
        <a:ext cx="2463750" cy="658283"/>
      </dsp:txXfrm>
    </dsp:sp>
    <dsp:sp modelId="{3A745D18-CB8F-46AF-BFD6-7D522149CCFE}">
      <dsp:nvSpPr>
        <dsp:cNvPr id="0" name=""/>
        <dsp:cNvSpPr/>
      </dsp:nvSpPr>
      <dsp:spPr>
        <a:xfrm>
          <a:off x="2899146" y="2393512"/>
          <a:ext cx="2463750" cy="646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743F8B-D22F-4765-B146-3CA241C04871}">
      <dsp:nvSpPr>
        <dsp:cNvPr id="0" name=""/>
        <dsp:cNvSpPr/>
      </dsp:nvSpPr>
      <dsp:spPr>
        <a:xfrm>
          <a:off x="5794053" y="727215"/>
          <a:ext cx="862312" cy="86231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4B9DC2-7FE2-4E0E-93D7-7356F542D065}">
      <dsp:nvSpPr>
        <dsp:cNvPr id="0" name=""/>
        <dsp:cNvSpPr/>
      </dsp:nvSpPr>
      <dsp:spPr>
        <a:xfrm>
          <a:off x="5794053" y="1688974"/>
          <a:ext cx="2463750" cy="658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ru-RU" sz="1400" b="1" kern="1200" dirty="0"/>
            <a:t>Метрика успеха:</a:t>
          </a:r>
          <a:r>
            <a:rPr lang="ru-RU" sz="1400" kern="1200" dirty="0"/>
            <a:t>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ru-RU" sz="1400" b="1" kern="1200" dirty="0"/>
            <a:t>Precision@3</a:t>
          </a:r>
          <a:endParaRPr lang="en-US" sz="1400" kern="1200" dirty="0"/>
        </a:p>
      </dsp:txBody>
      <dsp:txXfrm>
        <a:off x="5794053" y="1688974"/>
        <a:ext cx="2463750" cy="658283"/>
      </dsp:txXfrm>
    </dsp:sp>
    <dsp:sp modelId="{CE8B0519-4AC6-4023-8A89-39A3654B047B}">
      <dsp:nvSpPr>
        <dsp:cNvPr id="0" name=""/>
        <dsp:cNvSpPr/>
      </dsp:nvSpPr>
      <dsp:spPr>
        <a:xfrm>
          <a:off x="5794053" y="2393512"/>
          <a:ext cx="2463750" cy="646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A4C167-135D-4FBF-BE79-7509B57ED3DE}">
      <dsp:nvSpPr>
        <dsp:cNvPr id="0" name=""/>
        <dsp:cNvSpPr/>
      </dsp:nvSpPr>
      <dsp:spPr>
        <a:xfrm>
          <a:off x="8688959" y="727215"/>
          <a:ext cx="862312" cy="86231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52EFED-3773-4347-805F-D981D3395921}">
      <dsp:nvSpPr>
        <dsp:cNvPr id="0" name=""/>
        <dsp:cNvSpPr/>
      </dsp:nvSpPr>
      <dsp:spPr>
        <a:xfrm>
          <a:off x="8688959" y="1688974"/>
          <a:ext cx="2463750" cy="658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ru-RU" sz="1400" b="1" kern="1200"/>
            <a:t>Почему именно эта метрика?</a:t>
          </a:r>
          <a:endParaRPr lang="en-US" sz="1400" kern="1200"/>
        </a:p>
      </dsp:txBody>
      <dsp:txXfrm>
        <a:off x="8688959" y="1688974"/>
        <a:ext cx="2463750" cy="658283"/>
      </dsp:txXfrm>
    </dsp:sp>
    <dsp:sp modelId="{D47DA809-97DD-4233-8155-7CEBE1586E98}">
      <dsp:nvSpPr>
        <dsp:cNvPr id="0" name=""/>
        <dsp:cNvSpPr/>
      </dsp:nvSpPr>
      <dsp:spPr>
        <a:xfrm>
          <a:off x="8688959" y="2393512"/>
          <a:ext cx="2463750" cy="646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Соответствует 3 слотам на главной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Прямо измеряет продажи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 dirty="0"/>
            <a:t>Легко объясняется бизнесу</a:t>
          </a:r>
          <a:endParaRPr lang="en-US" sz="1100" kern="1200" dirty="0"/>
        </a:p>
      </dsp:txBody>
      <dsp:txXfrm>
        <a:off x="8688959" y="2393512"/>
        <a:ext cx="2463750" cy="6464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628532-19DF-49DD-8985-58164F49862F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DFDCF1-0F74-4167-B37E-516808443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768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DFDCF1-0F74-4167-B37E-516808443C3A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074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DFDCF1-0F74-4167-B37E-516808443C3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8544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DFDCF1-0F74-4167-B37E-516808443C3A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4293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00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180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46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608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262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861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914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686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877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571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910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667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1" r:id="rId6"/>
    <p:sldLayoutId id="2147483787" r:id="rId7"/>
    <p:sldLayoutId id="2147483788" r:id="rId8"/>
    <p:sldLayoutId id="2147483789" r:id="rId9"/>
    <p:sldLayoutId id="2147483790" r:id="rId10"/>
    <p:sldLayoutId id="214748379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5" Type="http://schemas.openxmlformats.org/officeDocument/2006/relationships/image" Target="../media/image9.png"/><Relationship Id="rId4" Type="http://schemas.openxmlformats.org/officeDocument/2006/relationships/hyperlink" Target="http://localhost:8000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6963FB-D1B3-3538-7797-D0E696A7EA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91" t="9689" b="8165"/>
          <a:stretch>
            <a:fillRect/>
          </a:stretch>
        </p:blipFill>
        <p:spPr>
          <a:xfrm>
            <a:off x="-4885199" y="-2"/>
            <a:ext cx="12191979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AB476BF-4EE2-5243-CABB-6CC72C3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96D16-3EA8-B598-5615-1A6EFF3CE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6780" y="978409"/>
            <a:ext cx="4496529" cy="2843856"/>
          </a:xfrm>
        </p:spPr>
        <p:txBody>
          <a:bodyPr anchor="t">
            <a:normAutofit fontScale="90000"/>
          </a:bodyPr>
          <a:lstStyle/>
          <a:p>
            <a:r>
              <a:rPr lang="ru-RU" sz="4000" dirty="0"/>
              <a:t>Внедрение рекомендательной системы для увеличения среднего чека на 20%</a:t>
            </a:r>
            <a:endParaRPr lang="ru-RU" sz="4000" dirty="0">
              <a:effectLst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D8A5659-D166-1ADA-42C5-32F7B4191C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06780" y="4800674"/>
            <a:ext cx="5075720" cy="1291857"/>
          </a:xfrm>
        </p:spPr>
        <p:txBody>
          <a:bodyPr anchor="b">
            <a:normAutofit fontScale="92500"/>
          </a:bodyPr>
          <a:lstStyle/>
          <a:p>
            <a:r>
              <a:rPr lang="ru-RU" dirty="0"/>
              <a:t>Дипломный проект по треку ML-инженер</a:t>
            </a:r>
          </a:p>
          <a:p>
            <a:r>
              <a:rPr lang="ru-RU" b="1" dirty="0"/>
              <a:t>Автор:</a:t>
            </a:r>
            <a:r>
              <a:rPr lang="ru-RU" dirty="0"/>
              <a:t> Сахно (Аргунова) Елена Сергеевна </a:t>
            </a:r>
            <a:r>
              <a:rPr lang="ru-RU" b="1" dirty="0"/>
              <a:t>Дата:</a:t>
            </a:r>
            <a:r>
              <a:rPr lang="ru-RU" dirty="0"/>
              <a:t> Июль 2026</a:t>
            </a:r>
            <a:endParaRPr lang="ru-RU" dirty="0">
              <a:effectLst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0D28EA4-6F96-F7C6-1D07-5BA5C2738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DFF93C5-0576-D227-80A7-4CFBA879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15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524CF7-05AA-5AF2-6F9A-16A9A1DE0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Бизнес-задача</a:t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1E4157B0-C007-0822-F535-C0074D01BB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3742704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772006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6E968D-94D9-2813-3EB7-6E83555AC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81928" cy="1463040"/>
          </a:xfrm>
        </p:spPr>
        <p:txBody>
          <a:bodyPr>
            <a:normAutofit/>
          </a:bodyPr>
          <a:lstStyle/>
          <a:p>
            <a:r>
              <a:rPr lang="ru-RU" dirty="0"/>
              <a:t>Данные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77E76D-E0E1-E013-F491-52E3D6C98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81928" cy="37673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/>
              <a:t>Признаки</a:t>
            </a:r>
            <a:endParaRPr lang="ru-RU"/>
          </a:p>
          <a:p>
            <a:pPr>
              <a:lnSpc>
                <a:spcPct val="100000"/>
              </a:lnSpc>
            </a:pPr>
            <a:r>
              <a:rPr lang="ru-RU" err="1">
                <a:ea typeface="ADLaM Display" panose="020F0502020204030204" pitchFamily="2" charset="0"/>
                <a:cs typeface="ADLaM Display" panose="020F0502020204030204" pitchFamily="2" charset="0"/>
              </a:rPr>
              <a:t>events</a:t>
            </a:r>
            <a:r>
              <a:rPr lang="ru-RU" dirty="0"/>
              <a:t> — 2.76 млн. событий</a:t>
            </a:r>
            <a:endParaRPr lang="ru-RU"/>
          </a:p>
          <a:p>
            <a:pPr>
              <a:lnSpc>
                <a:spcPct val="100000"/>
              </a:lnSpc>
            </a:pPr>
            <a:r>
              <a:rPr lang="ru-RU" err="1"/>
              <a:t>item_properties</a:t>
            </a:r>
            <a:r>
              <a:rPr lang="ru-RU"/>
              <a:t> </a:t>
            </a:r>
            <a:r>
              <a:rPr lang="ru-RU" dirty="0"/>
              <a:t>— </a:t>
            </a:r>
            <a:r>
              <a:rPr lang="en-US" dirty="0"/>
              <a:t> 20.3 </a:t>
            </a:r>
            <a:r>
              <a:rPr lang="ru-RU" dirty="0"/>
              <a:t>млн. свойств товаров</a:t>
            </a:r>
            <a:endParaRPr lang="ru-RU"/>
          </a:p>
          <a:p>
            <a:pPr>
              <a:lnSpc>
                <a:spcPct val="100000"/>
              </a:lnSpc>
            </a:pPr>
            <a:r>
              <a:rPr lang="ru-RU" err="1"/>
              <a:t>category_tree</a:t>
            </a:r>
            <a:r>
              <a:rPr lang="ru-RU"/>
              <a:t> </a:t>
            </a:r>
            <a:r>
              <a:rPr lang="ru-RU" dirty="0"/>
              <a:t>— 1 669 категорий</a:t>
            </a:r>
            <a:endParaRPr lang="ru-RU"/>
          </a:p>
          <a:p>
            <a:pPr marL="0" indent="0">
              <a:lnSpc>
                <a:spcPct val="100000"/>
              </a:lnSpc>
              <a:buNone/>
            </a:pPr>
            <a:r>
              <a:rPr lang="ru-RU" b="1" dirty="0"/>
              <a:t>Ключевые </a:t>
            </a:r>
            <a:r>
              <a:rPr lang="ru-RU" b="1" dirty="0" err="1"/>
              <a:t>insights</a:t>
            </a:r>
            <a:r>
              <a:rPr lang="ru-RU" b="1" dirty="0"/>
              <a:t> из EDA:</a:t>
            </a:r>
            <a:endParaRPr lang="ru-RU"/>
          </a:p>
          <a:p>
            <a:pPr>
              <a:lnSpc>
                <a:spcPct val="100000"/>
              </a:lnSpc>
            </a:pPr>
            <a:r>
              <a:rPr lang="ru-RU"/>
              <a:t>96.68% событий </a:t>
            </a:r>
            <a:r>
              <a:rPr lang="ru-RU" dirty="0"/>
              <a:t>— просмотры</a:t>
            </a:r>
            <a:endParaRPr lang="ru-RU"/>
          </a:p>
          <a:p>
            <a:pPr>
              <a:lnSpc>
                <a:spcPct val="100000"/>
              </a:lnSpc>
            </a:pPr>
            <a:r>
              <a:rPr lang="ru-RU"/>
              <a:t>Только 0.81% </a:t>
            </a:r>
            <a:r>
              <a:rPr lang="ru-RU" dirty="0"/>
              <a:t>— покупки (сильный дисбаланс)</a:t>
            </a:r>
            <a:endParaRPr lang="ru-RU"/>
          </a:p>
          <a:p>
            <a:pPr>
              <a:lnSpc>
                <a:spcPct val="100000"/>
              </a:lnSpc>
            </a:pPr>
            <a:r>
              <a:rPr lang="ru-RU" dirty="0"/>
              <a:t>Сильная разреженность данных</a:t>
            </a:r>
            <a:endParaRPr lang="ru-RU"/>
          </a:p>
          <a:p>
            <a:pPr>
              <a:lnSpc>
                <a:spcPct val="100000"/>
              </a:lnSpc>
            </a:pPr>
            <a:r>
              <a:rPr lang="ru-RU" dirty="0"/>
              <a:t>Временной диапазон: май — сентябрь 2015</a:t>
            </a:r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DADF1A9-F1F3-E271-7871-33EF430CD3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050" y="2833281"/>
            <a:ext cx="5854429" cy="351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9342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1A7D89-B9A5-3D8E-43D6-4D953043F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9"/>
            <a:ext cx="3200400" cy="1402842"/>
          </a:xfrm>
        </p:spPr>
        <p:txBody>
          <a:bodyPr anchor="b">
            <a:normAutofit fontScale="90000"/>
          </a:bodyPr>
          <a:lstStyle/>
          <a:p>
            <a:r>
              <a:rPr lang="ru-RU" sz="4000" dirty="0" err="1"/>
              <a:t>Feature</a:t>
            </a:r>
            <a:r>
              <a:rPr lang="ru-RU" sz="4000" dirty="0"/>
              <a:t> Engineering</a:t>
            </a:r>
            <a:br>
              <a:rPr lang="ru-RU" sz="4000" dirty="0"/>
            </a:b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379415-793C-8EF0-99AC-341390336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75" y="2533650"/>
            <a:ext cx="10020299" cy="382143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b="1" dirty="0"/>
              <a:t>Добавлены:</a:t>
            </a:r>
          </a:p>
          <a:p>
            <a:pPr>
              <a:lnSpc>
                <a:spcPct val="100000"/>
              </a:lnSpc>
            </a:pPr>
            <a:r>
              <a:rPr lang="ru-RU" b="1" dirty="0"/>
              <a:t>Признаки пользователей</a:t>
            </a:r>
            <a:r>
              <a:rPr lang="ru-RU" dirty="0"/>
              <a:t> (активность, конверсия, сессии)</a:t>
            </a:r>
          </a:p>
          <a:p>
            <a:pPr>
              <a:lnSpc>
                <a:spcPct val="100000"/>
              </a:lnSpc>
            </a:pPr>
            <a:r>
              <a:rPr lang="ru-RU" b="1" dirty="0"/>
              <a:t>Признаки товаров</a:t>
            </a:r>
            <a:r>
              <a:rPr lang="ru-RU" dirty="0"/>
              <a:t> (популярность, конверсия, свежесть)</a:t>
            </a:r>
          </a:p>
          <a:p>
            <a:pPr>
              <a:lnSpc>
                <a:spcPct val="100000"/>
              </a:lnSpc>
            </a:pPr>
            <a:r>
              <a:rPr lang="ru-RU" b="1" dirty="0"/>
              <a:t>Признаки взаимодействий</a:t>
            </a:r>
            <a:r>
              <a:rPr lang="ru-RU" dirty="0"/>
              <a:t> (</a:t>
            </a:r>
            <a:r>
              <a:rPr lang="ru-RU" dirty="0" err="1"/>
              <a:t>user-item</a:t>
            </a:r>
            <a:r>
              <a:rPr lang="ru-RU" dirty="0"/>
              <a:t> история)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b="1" dirty="0"/>
              <a:t>Временной сплит:</a:t>
            </a:r>
            <a:endParaRPr lang="ru-RU" dirty="0"/>
          </a:p>
          <a:p>
            <a:pPr>
              <a:lnSpc>
                <a:spcPct val="100000"/>
              </a:lnSpc>
            </a:pPr>
            <a:r>
              <a:rPr lang="ru-RU" dirty="0" err="1"/>
              <a:t>Train</a:t>
            </a:r>
            <a:r>
              <a:rPr lang="ru-RU" dirty="0"/>
              <a:t>: до 01.08.2015</a:t>
            </a:r>
          </a:p>
          <a:p>
            <a:pPr>
              <a:lnSpc>
                <a:spcPct val="100000"/>
              </a:lnSpc>
            </a:pPr>
            <a:r>
              <a:rPr lang="ru-RU" dirty="0"/>
              <a:t>Test: после 01.08.2015</a:t>
            </a:r>
          </a:p>
          <a:p>
            <a:pPr>
              <a:lnSpc>
                <a:spcPct val="100000"/>
              </a:lnSpc>
            </a:pPr>
            <a:endParaRPr lang="ru-RU" dirty="0"/>
          </a:p>
          <a:p>
            <a:pPr marL="0" indent="0">
              <a:lnSpc>
                <a:spcPct val="100000"/>
              </a:lnSpc>
              <a:buNone/>
            </a:pPr>
            <a:r>
              <a:rPr lang="ru-RU" b="1" dirty="0"/>
              <a:t>Итоговый датасет:</a:t>
            </a:r>
            <a:r>
              <a:rPr lang="ru-RU" dirty="0"/>
              <a:t> ~2.15 млн </a:t>
            </a:r>
            <a:r>
              <a:rPr lang="ru-RU" dirty="0" err="1"/>
              <a:t>user-item</a:t>
            </a:r>
            <a:r>
              <a:rPr lang="ru-RU" dirty="0"/>
              <a:t> пар</a:t>
            </a:r>
            <a:endParaRPr lang="ru-R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82466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52E3CD-CA42-E159-2199-6AE056451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754880" cy="1463040"/>
          </a:xfrm>
        </p:spPr>
        <p:txBody>
          <a:bodyPr>
            <a:normAutofit/>
          </a:bodyPr>
          <a:lstStyle/>
          <a:p>
            <a:r>
              <a:rPr lang="ru-RU"/>
              <a:t>Модель</a:t>
            </a:r>
            <a:br>
              <a:rPr lang="ru-RU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5F8A57-CE42-0F33-5A42-F1B1420E4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90725"/>
            <a:ext cx="4672584" cy="435521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/>
              <a:t>Выбрана модель:</a:t>
            </a:r>
          </a:p>
          <a:p>
            <a:pPr>
              <a:lnSpc>
                <a:spcPct val="100000"/>
              </a:lnSpc>
            </a:pPr>
            <a:r>
              <a:rPr lang="ru-RU" dirty="0"/>
              <a:t>Алгоритм: </a:t>
            </a:r>
            <a:r>
              <a:rPr lang="ru-RU" b="1" dirty="0" err="1"/>
              <a:t>XGBoost</a:t>
            </a:r>
            <a:r>
              <a:rPr lang="ru-RU" b="1" dirty="0"/>
              <a:t> </a:t>
            </a:r>
            <a:r>
              <a:rPr lang="ru-RU" b="1" dirty="0" err="1"/>
              <a:t>Ranker</a:t>
            </a:r>
            <a:r>
              <a:rPr lang="ru-RU" dirty="0"/>
              <a:t> (</a:t>
            </a:r>
            <a:r>
              <a:rPr lang="ru-RU" dirty="0" err="1"/>
              <a:t>rank:pairwise</a:t>
            </a:r>
            <a:r>
              <a:rPr lang="ru-RU" dirty="0"/>
              <a:t>)</a:t>
            </a:r>
          </a:p>
          <a:p>
            <a:pPr>
              <a:lnSpc>
                <a:spcPct val="100000"/>
              </a:lnSpc>
            </a:pPr>
            <a:r>
              <a:rPr lang="ru-RU" dirty="0"/>
              <a:t>Precision@3 = </a:t>
            </a:r>
            <a:r>
              <a:rPr lang="ru-RU" b="1" dirty="0"/>
              <a:t>87.35%</a:t>
            </a:r>
            <a:endParaRPr lang="ru-RU" dirty="0"/>
          </a:p>
          <a:p>
            <a:pPr>
              <a:lnSpc>
                <a:spcPct val="100000"/>
              </a:lnSpc>
            </a:pPr>
            <a:r>
              <a:rPr lang="ru-RU" dirty="0"/>
              <a:t>Основные признаки: </a:t>
            </a:r>
            <a:r>
              <a:rPr lang="ru-RU" dirty="0" err="1"/>
              <a:t>adds</a:t>
            </a:r>
            <a:r>
              <a:rPr lang="ru-RU" dirty="0"/>
              <a:t>, </a:t>
            </a:r>
            <a:r>
              <a:rPr lang="ru-RU" dirty="0" err="1"/>
              <a:t>add_to_view_ratio_y</a:t>
            </a:r>
            <a:r>
              <a:rPr lang="ru-RU" dirty="0"/>
              <a:t>, </a:t>
            </a:r>
            <a:r>
              <a:rPr lang="ru-RU" dirty="0" err="1"/>
              <a:t>category_level</a:t>
            </a:r>
            <a:endParaRPr lang="ru-RU" dirty="0"/>
          </a:p>
          <a:p>
            <a:pPr marL="0" indent="0">
              <a:lnSpc>
                <a:spcPct val="100000"/>
              </a:lnSpc>
              <a:buNone/>
            </a:pPr>
            <a:endParaRPr lang="ru-RU" dirty="0"/>
          </a:p>
          <a:p>
            <a:pPr marL="0" indent="0">
              <a:lnSpc>
                <a:spcPct val="100000"/>
              </a:lnSpc>
              <a:buNone/>
            </a:pPr>
            <a:r>
              <a:rPr lang="ru-RU" b="1" dirty="0"/>
              <a:t>Преимущества подхода:</a:t>
            </a:r>
            <a:endParaRPr lang="ru-RU" dirty="0"/>
          </a:p>
          <a:p>
            <a:pPr>
              <a:lnSpc>
                <a:spcPct val="100000"/>
              </a:lnSpc>
            </a:pPr>
            <a:r>
              <a:rPr lang="ru-RU" dirty="0"/>
              <a:t>Учитывает порядок рекомендаций </a:t>
            </a:r>
          </a:p>
          <a:p>
            <a:pPr>
              <a:lnSpc>
                <a:spcPct val="100000"/>
              </a:lnSpc>
            </a:pPr>
            <a:r>
              <a:rPr lang="ru-RU" dirty="0"/>
              <a:t>Хорошо работает с разреженными данными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123767D-DA53-AA8F-EB28-CC12ABDC1F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650" y="1150620"/>
            <a:ext cx="6353174" cy="508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7590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BACE1F-7000-EC7B-C897-137CFB3BA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100"/>
              <a:t>Веб-сервис</a:t>
            </a:r>
            <a:br>
              <a:rPr lang="ru-RU" sz="3100"/>
            </a:br>
            <a:br>
              <a:rPr lang="ru-RU" sz="3100"/>
            </a:br>
            <a:endParaRPr lang="ru-RU" sz="310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84AFB0-78C7-0250-1132-72D036387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687398"/>
            <a:ext cx="6263640" cy="465853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Фреймворк: </a:t>
            </a:r>
            <a:r>
              <a:rPr lang="ru-RU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FastAPI</a:t>
            </a:r>
            <a:endParaRPr lang="ru-RU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ru-RU" dirty="0"/>
              <a:t>Основной </a:t>
            </a:r>
            <a:r>
              <a:rPr lang="ru-RU" dirty="0" err="1"/>
              <a:t>эндпоинт</a:t>
            </a:r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 GET /</a:t>
            </a:r>
            <a:r>
              <a:rPr lang="ru-RU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recommend</a:t>
            </a:r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/{</a:t>
            </a:r>
            <a:r>
              <a:rPr lang="ru-RU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visitor_id</a:t>
            </a:r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}</a:t>
            </a:r>
          </a:p>
          <a:p>
            <a:r>
              <a:rPr lang="ru-RU" dirty="0"/>
              <a:t>Возвращает топ-3 товара с </a:t>
            </a:r>
            <a:r>
              <a:rPr lang="ru-RU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score</a:t>
            </a:r>
            <a:endParaRPr lang="ru-RU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ru-RU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Swagger</a:t>
            </a:r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UI </a:t>
            </a:r>
            <a:r>
              <a:rPr lang="ru-RU" dirty="0"/>
              <a:t>для тестирования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b="1" dirty="0"/>
              <a:t>Пример ответа:</a:t>
            </a:r>
          </a:p>
          <a:p>
            <a:pPr>
              <a:buNone/>
            </a:pPr>
            <a:r>
              <a:rPr lang="ru-RU" dirty="0">
                <a:effectLst/>
              </a:rPr>
              <a:t>{ </a:t>
            </a:r>
          </a:p>
          <a:p>
            <a:pPr>
              <a:buNone/>
            </a:pPr>
            <a:r>
              <a:rPr lang="ru-RU" dirty="0">
                <a:effectLst/>
              </a:rPr>
              <a:t>"</a:t>
            </a:r>
            <a:r>
              <a:rPr lang="ru-RU" dirty="0" err="1">
                <a:effectLst/>
              </a:rPr>
              <a:t>visitor_id</a:t>
            </a:r>
            <a:r>
              <a:rPr lang="ru-RU" dirty="0">
                <a:effectLst/>
              </a:rPr>
              <a:t>": 12345,</a:t>
            </a:r>
          </a:p>
          <a:p>
            <a:pPr>
              <a:buNone/>
            </a:pPr>
            <a:r>
              <a:rPr lang="ru-RU" dirty="0">
                <a:effectLst/>
              </a:rPr>
              <a:t> "</a:t>
            </a:r>
            <a:r>
              <a:rPr lang="ru-RU" dirty="0" err="1">
                <a:effectLst/>
              </a:rPr>
              <a:t>recommendations</a:t>
            </a:r>
            <a:r>
              <a:rPr lang="ru-RU" dirty="0">
                <a:effectLst/>
              </a:rPr>
              <a:t>": [ </a:t>
            </a:r>
          </a:p>
          <a:p>
            <a:pPr>
              <a:buNone/>
            </a:pPr>
            <a:r>
              <a:rPr lang="ru-RU" dirty="0">
                <a:effectLst/>
              </a:rPr>
              <a:t>{"</a:t>
            </a:r>
            <a:r>
              <a:rPr lang="ru-RU" dirty="0" err="1">
                <a:effectLst/>
              </a:rPr>
              <a:t>item_id</a:t>
            </a:r>
            <a:r>
              <a:rPr lang="ru-RU" dirty="0">
                <a:effectLst/>
              </a:rPr>
              <a:t>": 307716, "</a:t>
            </a:r>
            <a:r>
              <a:rPr lang="ru-RU" dirty="0" err="1">
                <a:effectLst/>
              </a:rPr>
              <a:t>score</a:t>
            </a:r>
            <a:r>
              <a:rPr lang="ru-RU" dirty="0">
                <a:effectLst/>
              </a:rPr>
              <a:t>": 0.89} </a:t>
            </a:r>
          </a:p>
          <a:p>
            <a:pPr>
              <a:buNone/>
            </a:pPr>
            <a:r>
              <a:rPr lang="ru-RU" dirty="0"/>
              <a:t>	</a:t>
            </a:r>
            <a:r>
              <a:rPr lang="ru-RU" dirty="0">
                <a:effectLst/>
              </a:rPr>
              <a:t>]</a:t>
            </a:r>
          </a:p>
          <a:p>
            <a:pPr>
              <a:buNone/>
            </a:pPr>
            <a:r>
              <a:rPr lang="ru-RU" dirty="0">
                <a:effectLst/>
              </a:rPr>
              <a:t> }</a:t>
            </a: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B32E1F9-0FBA-43AE-0AC0-A9CF3174D6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00150"/>
            <a:ext cx="5559743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676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0CE91B-3016-3E2E-EBBE-301B1D8D3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200400" cy="1620413"/>
          </a:xfrm>
        </p:spPr>
        <p:txBody>
          <a:bodyPr anchor="b">
            <a:normAutofit fontScale="90000"/>
          </a:bodyPr>
          <a:lstStyle/>
          <a:p>
            <a:r>
              <a:rPr lang="ru-RU" sz="4000" dirty="0" err="1"/>
              <a:t>Docker</a:t>
            </a:r>
            <a:r>
              <a:rPr lang="ru-RU" sz="4000" dirty="0"/>
              <a:t> + Деплой</a:t>
            </a:r>
            <a:br>
              <a:rPr lang="ru-RU" sz="4000" dirty="0"/>
            </a:b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23EA1D-E4F7-85EA-502D-4BE5C505D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212608"/>
            <a:ext cx="4612266" cy="40931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dirty="0"/>
              <a:t>Создан </a:t>
            </a:r>
            <a:r>
              <a:rPr lang="ru-RU" dirty="0" err="1"/>
              <a:t>Dockerfile</a:t>
            </a:r>
            <a:endParaRPr lang="ru-RU" dirty="0"/>
          </a:p>
          <a:p>
            <a:pPr>
              <a:lnSpc>
                <a:spcPct val="100000"/>
              </a:lnSpc>
            </a:pPr>
            <a:r>
              <a:rPr lang="ru-RU" dirty="0"/>
              <a:t>Образ: </a:t>
            </a:r>
            <a:r>
              <a:rPr lang="ru-RU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recommendation-service</a:t>
            </a:r>
            <a:endParaRPr lang="ru-RU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ru-RU" dirty="0"/>
              <a:t>Команда запуска: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docker</a:t>
            </a:r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ru-RU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run</a:t>
            </a:r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-p 8000:8000 </a:t>
            </a:r>
            <a:r>
              <a:rPr lang="ru-RU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recommendation-service</a:t>
            </a:r>
            <a:endParaRPr lang="ru-RU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ru-RU" dirty="0"/>
              <a:t>Сервис доступен по адресу: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/>
              <a:t> </a:t>
            </a:r>
            <a:r>
              <a:rPr lang="ru-RU" dirty="0">
                <a:hlinkClick r:id="rId4"/>
              </a:rPr>
              <a:t>http://localhost:8000</a:t>
            </a:r>
            <a:endParaRPr lang="ru-RU" dirty="0"/>
          </a:p>
          <a:p>
            <a:pPr marL="0" indent="0">
              <a:lnSpc>
                <a:spcPct val="100000"/>
              </a:lnSpc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C4B5613-169D-C6C3-AC7F-0179C29A8F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6598" b="-2"/>
          <a:stretch>
            <a:fillRect/>
          </a:stretch>
        </p:blipFill>
        <p:spPr>
          <a:xfrm>
            <a:off x="5174965" y="1077958"/>
            <a:ext cx="6590857" cy="470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0496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37FCA5-8A28-BC97-0F75-5C88DF2FB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и бизнес-эффект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0EAB66-AE2D-29CC-5E12-98E12CF1C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Precision@3 = </a:t>
            </a:r>
            <a:r>
              <a:rPr lang="ru-RU" b="1" dirty="0"/>
              <a:t>87.35%</a:t>
            </a:r>
            <a:endParaRPr lang="ru-RU" dirty="0"/>
          </a:p>
          <a:p>
            <a:r>
              <a:rPr lang="ru-RU" dirty="0"/>
              <a:t>Ожидаемое увеличение среднего чека: </a:t>
            </a:r>
            <a:r>
              <a:rPr lang="ru-RU" b="1" dirty="0"/>
              <a:t>18–22%</a:t>
            </a:r>
            <a:endParaRPr lang="ru-RU" dirty="0"/>
          </a:p>
          <a:p>
            <a:r>
              <a:rPr lang="ru-RU" dirty="0"/>
              <a:t>Модель готова к A/B-тестированию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Бизнес-эффект:</a:t>
            </a:r>
            <a:endParaRPr lang="ru-RU" dirty="0"/>
          </a:p>
          <a:p>
            <a:r>
              <a:rPr lang="ru-RU" dirty="0"/>
              <a:t>Рост выручки за счёт кросс-</a:t>
            </a:r>
            <a:r>
              <a:rPr lang="ru-RU" dirty="0" err="1"/>
              <a:t>сейлз</a:t>
            </a:r>
            <a:endParaRPr lang="ru-RU" dirty="0"/>
          </a:p>
          <a:p>
            <a:r>
              <a:rPr lang="ru-RU" dirty="0"/>
              <a:t>Улучшение пользовательского опыта</a:t>
            </a:r>
          </a:p>
        </p:txBody>
      </p:sp>
    </p:spTree>
    <p:extLst>
      <p:ext uri="{BB962C8B-B14F-4D97-AF65-F5344CB8AC3E}">
        <p14:creationId xmlns:p14="http://schemas.microsoft.com/office/powerpoint/2010/main" val="13934660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334880-A09C-3FDB-FD73-2E05211A3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432" y="978408"/>
            <a:ext cx="11131456" cy="754139"/>
          </a:xfrm>
        </p:spPr>
        <p:txBody>
          <a:bodyPr>
            <a:normAutofit fontScale="90000"/>
          </a:bodyPr>
          <a:lstStyle/>
          <a:p>
            <a:r>
              <a:rPr lang="ru-RU" dirty="0"/>
              <a:t>Выводы и дальнейшие шаги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1FE85E-263F-80EA-7465-C5BF33793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433" y="2855495"/>
            <a:ext cx="11131456" cy="3490441"/>
          </a:xfrm>
        </p:spPr>
        <p:txBody>
          <a:bodyPr/>
          <a:lstStyle/>
          <a:p>
            <a:r>
              <a:rPr lang="ru-RU" dirty="0"/>
              <a:t>Задача выполнена полностью</a:t>
            </a:r>
          </a:p>
          <a:p>
            <a:r>
              <a:rPr lang="ru-RU" dirty="0"/>
              <a:t>Создан </a:t>
            </a:r>
            <a:r>
              <a:rPr lang="ru-RU" dirty="0" err="1"/>
              <a:t>production-ready</a:t>
            </a:r>
            <a:r>
              <a:rPr lang="ru-RU" dirty="0"/>
              <a:t> сервис</a:t>
            </a:r>
          </a:p>
          <a:p>
            <a:r>
              <a:rPr lang="ru-RU" dirty="0"/>
              <a:t>Достигнута высокая метрика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Дальше:</a:t>
            </a:r>
            <a:endParaRPr lang="ru-RU" dirty="0"/>
          </a:p>
          <a:p>
            <a:r>
              <a:rPr lang="ru-RU" dirty="0"/>
              <a:t>A/B-тест</a:t>
            </a:r>
          </a:p>
          <a:p>
            <a:r>
              <a:rPr lang="ru-RU" dirty="0"/>
              <a:t>Добавление </a:t>
            </a:r>
            <a:r>
              <a:rPr lang="ru-RU" dirty="0" err="1"/>
              <a:t>эмбеддингов</a:t>
            </a:r>
            <a:endParaRPr lang="ru-RU" dirty="0"/>
          </a:p>
          <a:p>
            <a:r>
              <a:rPr lang="ru-RU" dirty="0"/>
              <a:t>Мониторинг модели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5868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Gestalt">
    <a:dk1>
      <a:srgbClr val="000000"/>
    </a:dk1>
    <a:lt1>
      <a:sysClr val="window" lastClr="FFFFFF"/>
    </a:lt1>
    <a:dk2>
      <a:srgbClr val="262626"/>
    </a:dk2>
    <a:lt2>
      <a:srgbClr val="F7F7F7"/>
    </a:lt2>
    <a:accent1>
      <a:srgbClr val="EBA000"/>
    </a:accent1>
    <a:accent2>
      <a:srgbClr val="00BAC8"/>
    </a:accent2>
    <a:accent3>
      <a:srgbClr val="E64823"/>
    </a:accent3>
    <a:accent4>
      <a:srgbClr val="4D5AFF"/>
    </a:accent4>
    <a:accent5>
      <a:srgbClr val="FE5D21"/>
    </a:accent5>
    <a:accent6>
      <a:srgbClr val="00C777"/>
    </a:accent6>
    <a:hlink>
      <a:srgbClr val="2998E3"/>
    </a:hlink>
    <a:folHlink>
      <a:srgbClr val="939393"/>
    </a:folHlink>
  </a:clrScheme>
</a:themeOverride>
</file>

<file path=ppt/theme/themeOverride2.xml><?xml version="1.0" encoding="utf-8"?>
<a:themeOverride xmlns:a="http://schemas.openxmlformats.org/drawingml/2006/main">
  <a:clrScheme name="Gestalt">
    <a:dk1>
      <a:srgbClr val="000000"/>
    </a:dk1>
    <a:lt1>
      <a:sysClr val="window" lastClr="FFFFFF"/>
    </a:lt1>
    <a:dk2>
      <a:srgbClr val="262626"/>
    </a:dk2>
    <a:lt2>
      <a:srgbClr val="F7F7F7"/>
    </a:lt2>
    <a:accent1>
      <a:srgbClr val="EBA000"/>
    </a:accent1>
    <a:accent2>
      <a:srgbClr val="00BAC8"/>
    </a:accent2>
    <a:accent3>
      <a:srgbClr val="E64823"/>
    </a:accent3>
    <a:accent4>
      <a:srgbClr val="4D5AFF"/>
    </a:accent4>
    <a:accent5>
      <a:srgbClr val="FE5D21"/>
    </a:accent5>
    <a:accent6>
      <a:srgbClr val="00C777"/>
    </a:accent6>
    <a:hlink>
      <a:srgbClr val="2998E3"/>
    </a:hlink>
    <a:folHlink>
      <a:srgbClr val="939393"/>
    </a:folHlink>
  </a:clrScheme>
</a:themeOverride>
</file>

<file path=ppt/theme/themeOverride3.xml><?xml version="1.0" encoding="utf-8"?>
<a:themeOverride xmlns:a="http://schemas.openxmlformats.org/drawingml/2006/main">
  <a:clrScheme name="Gestalt">
    <a:dk1>
      <a:srgbClr val="000000"/>
    </a:dk1>
    <a:lt1>
      <a:sysClr val="window" lastClr="FFFFFF"/>
    </a:lt1>
    <a:dk2>
      <a:srgbClr val="262626"/>
    </a:dk2>
    <a:lt2>
      <a:srgbClr val="F7F7F7"/>
    </a:lt2>
    <a:accent1>
      <a:srgbClr val="EBA000"/>
    </a:accent1>
    <a:accent2>
      <a:srgbClr val="00BAC8"/>
    </a:accent2>
    <a:accent3>
      <a:srgbClr val="E64823"/>
    </a:accent3>
    <a:accent4>
      <a:srgbClr val="4D5AFF"/>
    </a:accent4>
    <a:accent5>
      <a:srgbClr val="FE5D21"/>
    </a:accent5>
    <a:accent6>
      <a:srgbClr val="00C777"/>
    </a:accent6>
    <a:hlink>
      <a:srgbClr val="2998E3"/>
    </a:hlink>
    <a:folHlink>
      <a:srgbClr val="939393"/>
    </a:folHlink>
  </a:clrScheme>
</a:themeOverride>
</file>

<file path=ppt/theme/themeOverride4.xml><?xml version="1.0" encoding="utf-8"?>
<a:themeOverride xmlns:a="http://schemas.openxmlformats.org/drawingml/2006/main">
  <a:clrScheme name="Gestalt">
    <a:dk1>
      <a:srgbClr val="000000"/>
    </a:dk1>
    <a:lt1>
      <a:sysClr val="window" lastClr="FFFFFF"/>
    </a:lt1>
    <a:dk2>
      <a:srgbClr val="262626"/>
    </a:dk2>
    <a:lt2>
      <a:srgbClr val="F7F7F7"/>
    </a:lt2>
    <a:accent1>
      <a:srgbClr val="EBA000"/>
    </a:accent1>
    <a:accent2>
      <a:srgbClr val="00BAC8"/>
    </a:accent2>
    <a:accent3>
      <a:srgbClr val="E64823"/>
    </a:accent3>
    <a:accent4>
      <a:srgbClr val="4D5AFF"/>
    </a:accent4>
    <a:accent5>
      <a:srgbClr val="FE5D21"/>
    </a:accent5>
    <a:accent6>
      <a:srgbClr val="00C777"/>
    </a:accent6>
    <a:hlink>
      <a:srgbClr val="2998E3"/>
    </a:hlink>
    <a:folHlink>
      <a:srgbClr val="939393"/>
    </a:folHlink>
  </a:clrScheme>
</a:themeOverride>
</file>

<file path=ppt/theme/themeOverride5.xml><?xml version="1.0" encoding="utf-8"?>
<a:themeOverride xmlns:a="http://schemas.openxmlformats.org/drawingml/2006/main">
  <a:clrScheme name="Gestalt">
    <a:dk1>
      <a:srgbClr val="000000"/>
    </a:dk1>
    <a:lt1>
      <a:sysClr val="window" lastClr="FFFFFF"/>
    </a:lt1>
    <a:dk2>
      <a:srgbClr val="262626"/>
    </a:dk2>
    <a:lt2>
      <a:srgbClr val="F7F7F7"/>
    </a:lt2>
    <a:accent1>
      <a:srgbClr val="EBA000"/>
    </a:accent1>
    <a:accent2>
      <a:srgbClr val="00BAC8"/>
    </a:accent2>
    <a:accent3>
      <a:srgbClr val="E64823"/>
    </a:accent3>
    <a:accent4>
      <a:srgbClr val="4D5AFF"/>
    </a:accent4>
    <a:accent5>
      <a:srgbClr val="FE5D21"/>
    </a:accent5>
    <a:accent6>
      <a:srgbClr val="00C777"/>
    </a:accent6>
    <a:hlink>
      <a:srgbClr val="2998E3"/>
    </a:hlink>
    <a:folHlink>
      <a:srgbClr val="939393"/>
    </a:folHlink>
  </a:clrScheme>
</a:themeOverride>
</file>

<file path=ppt/theme/themeOverride6.xml><?xml version="1.0" encoding="utf-8"?>
<a:themeOverride xmlns:a="http://schemas.openxmlformats.org/drawingml/2006/main">
  <a:clrScheme name="Gestalt">
    <a:dk1>
      <a:srgbClr val="000000"/>
    </a:dk1>
    <a:lt1>
      <a:sysClr val="window" lastClr="FFFFFF"/>
    </a:lt1>
    <a:dk2>
      <a:srgbClr val="262626"/>
    </a:dk2>
    <a:lt2>
      <a:srgbClr val="F7F7F7"/>
    </a:lt2>
    <a:accent1>
      <a:srgbClr val="EBA000"/>
    </a:accent1>
    <a:accent2>
      <a:srgbClr val="00BAC8"/>
    </a:accent2>
    <a:accent3>
      <a:srgbClr val="E64823"/>
    </a:accent3>
    <a:accent4>
      <a:srgbClr val="4D5AFF"/>
    </a:accent4>
    <a:accent5>
      <a:srgbClr val="FE5D21"/>
    </a:accent5>
    <a:accent6>
      <a:srgbClr val="00C777"/>
    </a:accent6>
    <a:hlink>
      <a:srgbClr val="2998E3"/>
    </a:hlink>
    <a:folHlink>
      <a:srgbClr val="939393"/>
    </a:folHlink>
  </a:clrScheme>
</a:themeOverride>
</file>

<file path=ppt/theme/themeOverride7.xml><?xml version="1.0" encoding="utf-8"?>
<a:themeOverride xmlns:a="http://schemas.openxmlformats.org/drawingml/2006/main">
  <a:clrScheme name="Gestalt">
    <a:dk1>
      <a:srgbClr val="000000"/>
    </a:dk1>
    <a:lt1>
      <a:sysClr val="window" lastClr="FFFFFF"/>
    </a:lt1>
    <a:dk2>
      <a:srgbClr val="262626"/>
    </a:dk2>
    <a:lt2>
      <a:srgbClr val="F7F7F7"/>
    </a:lt2>
    <a:accent1>
      <a:srgbClr val="EBA000"/>
    </a:accent1>
    <a:accent2>
      <a:srgbClr val="00BAC8"/>
    </a:accent2>
    <a:accent3>
      <a:srgbClr val="E64823"/>
    </a:accent3>
    <a:accent4>
      <a:srgbClr val="4D5AFF"/>
    </a:accent4>
    <a:accent5>
      <a:srgbClr val="FE5D21"/>
    </a:accent5>
    <a:accent6>
      <a:srgbClr val="00C777"/>
    </a:accent6>
    <a:hlink>
      <a:srgbClr val="2998E3"/>
    </a:hlink>
    <a:folHlink>
      <a:srgbClr val="939393"/>
    </a:folHlink>
  </a:clrScheme>
</a:themeOverride>
</file>

<file path=ppt/theme/themeOverride8.xml><?xml version="1.0" encoding="utf-8"?>
<a:themeOverride xmlns:a="http://schemas.openxmlformats.org/drawingml/2006/main">
  <a:clrScheme name="Gestalt">
    <a:dk1>
      <a:srgbClr val="000000"/>
    </a:dk1>
    <a:lt1>
      <a:sysClr val="window" lastClr="FFFFFF"/>
    </a:lt1>
    <a:dk2>
      <a:srgbClr val="262626"/>
    </a:dk2>
    <a:lt2>
      <a:srgbClr val="F7F7F7"/>
    </a:lt2>
    <a:accent1>
      <a:srgbClr val="EBA000"/>
    </a:accent1>
    <a:accent2>
      <a:srgbClr val="00BAC8"/>
    </a:accent2>
    <a:accent3>
      <a:srgbClr val="E64823"/>
    </a:accent3>
    <a:accent4>
      <a:srgbClr val="4D5AFF"/>
    </a:accent4>
    <a:accent5>
      <a:srgbClr val="FE5D21"/>
    </a:accent5>
    <a:accent6>
      <a:srgbClr val="00C777"/>
    </a:accent6>
    <a:hlink>
      <a:srgbClr val="2998E3"/>
    </a:hlink>
    <a:folHlink>
      <a:srgbClr val="939393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Words>369</Words>
  <Application>Microsoft Office PowerPoint</Application>
  <PresentationFormat>Широкоэкранный</PresentationFormat>
  <Paragraphs>82</Paragraphs>
  <Slides>9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ADLaM Display</vt:lpstr>
      <vt:lpstr>Aptos</vt:lpstr>
      <vt:lpstr>Arial</vt:lpstr>
      <vt:lpstr>Bierstadt</vt:lpstr>
      <vt:lpstr>Neue Haas Grotesk Text Pro</vt:lpstr>
      <vt:lpstr>GestaltVTI</vt:lpstr>
      <vt:lpstr>Внедрение рекомендательной системы для увеличения среднего чека на 20%</vt:lpstr>
      <vt:lpstr>Бизнес-задача </vt:lpstr>
      <vt:lpstr>Данные </vt:lpstr>
      <vt:lpstr>Feature Engineering </vt:lpstr>
      <vt:lpstr>Модель </vt:lpstr>
      <vt:lpstr>Веб-сервис  </vt:lpstr>
      <vt:lpstr>Docker + Деплой </vt:lpstr>
      <vt:lpstr>Результаты и бизнес-эффект </vt:lpstr>
      <vt:lpstr>Выводы и дальнейшие шаги</vt:lpstr>
    </vt:vector>
  </TitlesOfParts>
  <Company>RePack by SPecialiST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9</cp:revision>
  <dcterms:created xsi:type="dcterms:W3CDTF">2026-07-04T09:51:17Z</dcterms:created>
  <dcterms:modified xsi:type="dcterms:W3CDTF">2026-07-06T20:09:07Z</dcterms:modified>
</cp:coreProperties>
</file>